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9286A3-A689-41BA-A3B0-3B4EE35C9044}" v="1" dt="2026-08-05T13:41:40.168"/>
  </p1510:revLst>
</p1510:revInfo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8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sha Khondre" userId="83ce4cea31edea5d" providerId="LiveId" clId="{93F5204D-8171-49CD-9ACF-813DDA6787C8}"/>
    <pc:docChg chg="undo custSel addSld delSld modSld">
      <pc:chgData name="Pratiksha Khondre" userId="83ce4cea31edea5d" providerId="LiveId" clId="{93F5204D-8171-49CD-9ACF-813DDA6787C8}" dt="2026-08-05T13:42:57.486" v="35" actId="47"/>
      <pc:docMkLst>
        <pc:docMk/>
      </pc:docMkLst>
      <pc:sldChg chg="add del">
        <pc:chgData name="Pratiksha Khondre" userId="83ce4cea31edea5d" providerId="LiveId" clId="{93F5204D-8171-49CD-9ACF-813DDA6787C8}" dt="2026-08-05T13:42:57.486" v="35" actId="47"/>
        <pc:sldMkLst>
          <pc:docMk/>
          <pc:sldMk cId="0" sldId="266"/>
        </pc:sldMkLst>
      </pc:sldChg>
      <pc:sldChg chg="new del">
        <pc:chgData name="Pratiksha Khondre" userId="83ce4cea31edea5d" providerId="LiveId" clId="{93F5204D-8171-49CD-9ACF-813DDA6787C8}" dt="2026-08-05T13:42:40.901" v="34" actId="47"/>
        <pc:sldMkLst>
          <pc:docMk/>
          <pc:sldMk cId="3663935457" sldId="267"/>
        </pc:sldMkLst>
      </pc:sldChg>
      <pc:sldChg chg="delSp modSp add mod setBg">
        <pc:chgData name="Pratiksha Khondre" userId="83ce4cea31edea5d" providerId="LiveId" clId="{93F5204D-8171-49CD-9ACF-813DDA6787C8}" dt="2026-08-05T13:42:30.223" v="33" actId="478"/>
        <pc:sldMkLst>
          <pc:docMk/>
          <pc:sldMk cId="0" sldId="268"/>
        </pc:sldMkLst>
        <pc:spChg chg="del mod">
          <ac:chgData name="Pratiksha Khondre" userId="83ce4cea31edea5d" providerId="LiveId" clId="{93F5204D-8171-49CD-9ACF-813DDA6787C8}" dt="2026-08-05T13:42:30.223" v="33" actId="478"/>
          <ac:spMkLst>
            <pc:docMk/>
            <pc:sldMk cId="0" sldId="268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2191695" cy="6858000"/>
          </a:xfrm>
          <a:prstGeom prst="rect">
            <a:avLst/>
          </a:prstGeom>
          <a:solidFill>
            <a:srgbClr val="104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58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76402" y="1207447"/>
            <a:ext cx="10058400" cy="2031325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sz="4000" dirty="0"/>
              <a:t>Lack of Awareness of Government Schemes</a:t>
            </a:r>
            <a:br>
              <a:rPr sz="4000" dirty="0"/>
            </a:br>
            <a:r>
              <a:rPr sz="4000" dirty="0"/>
              <a:t>Among Farmers and Its Impact</a:t>
            </a:r>
            <a:r>
              <a:rPr lang="en-US" sz="4000" dirty="0"/>
              <a:t>.</a:t>
            </a:r>
            <a:endParaRPr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5633884" y="3927004"/>
            <a:ext cx="6100918" cy="1723549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Guide: </a:t>
            </a:r>
            <a:r>
              <a:rPr lang="en-IN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S.S.Demmana</a:t>
            </a:r>
            <a:endParaRPr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Department: 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CSE(AIML)</a:t>
            </a:r>
            <a:endParaRPr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Arial"/>
              </a:defRPr>
            </a:pPr>
            <a:r>
              <a:rPr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College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Name: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D.K.T.E’s Textile And    Engineering    </a:t>
            </a:r>
            <a:r>
              <a:rPr lang="en-IN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Institute,Ichalkaranji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442A"/>
                </a:solidFill>
                <a:latin typeface="Georgia"/>
              </a:defRPr>
            </a:pPr>
            <a:r>
              <a:t>👥 Team Members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337976"/>
              </p:ext>
            </p:extLst>
          </p:nvPr>
        </p:nvGraphicFramePr>
        <p:xfrm>
          <a:off x="731520" y="1463040"/>
          <a:ext cx="10725912" cy="384048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2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1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IN" dirty="0"/>
                        <a:t>PRN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lang="en-IN" dirty="0"/>
                        <a:t>Pratiksha K</a:t>
                      </a:r>
                      <a:r>
                        <a:rPr lang="en-IN"/>
                        <a:t>hondre</a:t>
                      </a:r>
                      <a:r>
                        <a:rPr lang="en-IN" dirty="0"/>
                        <a:t>.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lang="en-IN" dirty="0"/>
                        <a:t>25UAM109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lang="en-IN" dirty="0"/>
                        <a:t>Gayatri Bhoite.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lang="en-IN" dirty="0"/>
                        <a:t>25UAM110</a:t>
                      </a:r>
                    </a:p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lang="en-IN" dirty="0"/>
                        <a:t>Namrata </a:t>
                      </a:r>
                      <a:r>
                        <a:rPr lang="en-IN" dirty="0" err="1"/>
                        <a:t>Negarale</a:t>
                      </a:r>
                      <a:r>
                        <a:rPr lang="en-IN" dirty="0"/>
                        <a:t>.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lang="en-IN" dirty="0"/>
                        <a:t>25UAM115</a:t>
                      </a:r>
                    </a:p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lang="en-IN" dirty="0"/>
                        <a:t>Sharayu </a:t>
                      </a:r>
                      <a:r>
                        <a:rPr lang="en-IN" dirty="0" err="1"/>
                        <a:t>Savale</a:t>
                      </a:r>
                      <a:r>
                        <a:rPr lang="en-IN" dirty="0"/>
                        <a:t>.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lang="en-IN" dirty="0"/>
                        <a:t>25UAM120</a:t>
                      </a:r>
                    </a:p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lang="en-IN" dirty="0"/>
                        <a:t>05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lang="en-IN" dirty="0"/>
                        <a:t>Jeenat </a:t>
                      </a:r>
                      <a:r>
                        <a:rPr lang="en-IN" dirty="0" err="1"/>
                        <a:t>Gaiban</a:t>
                      </a:r>
                      <a:r>
                        <a:rPr lang="en-IN" dirty="0"/>
                        <a:t>.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lang="en-IN" dirty="0"/>
                        <a:t>25UAM121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787179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725912" cy="822960"/>
          </a:xfrm>
          <a:prstGeom prst="roundRect">
            <a:avLst/>
          </a:prstGeom>
          <a:solidFill>
            <a:srgbClr val="DCEDE1"/>
          </a:solidFill>
          <a:ln>
            <a:solidFill>
              <a:srgbClr val="104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442A"/>
                </a:solidFill>
                <a:latin typeface="Arial"/>
              </a:defRPr>
            </a:pPr>
            <a:r>
              <a:t>📌 Working together to identify communication gaps between government and farmers.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5210" y="457200"/>
            <a:ext cx="49359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442A"/>
                </a:solidFill>
                <a:latin typeface="Georgia"/>
              </a:defRPr>
            </a:pPr>
            <a:r>
              <a:rPr lang="en-IN" sz="3200" dirty="0"/>
              <a:t>❗ </a:t>
            </a:r>
            <a:r>
              <a:rPr sz="3200"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3280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Many welfare schemes are launched by the Government of India to improve farmers' income and agricultural productivity. 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defRPr sz="1600">
                <a:solidFill>
                  <a:srgbClr val="282828"/>
                </a:solidFill>
                <a:latin typeface="Arial"/>
              </a:defRPr>
            </a:pP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However, a significant execution barrier exists: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51206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❌ </a:t>
            </a:r>
            <a:r>
              <a:rPr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Many farmers are unaware of these 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</a:t>
            </a:r>
            <a:r>
              <a:rPr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schemes.</a:t>
            </a:r>
          </a:p>
          <a:p>
            <a:pPr>
              <a:spcBef>
                <a:spcPts val="14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rPr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❌ Lack of digital literacy.</a:t>
            </a:r>
          </a:p>
          <a:p>
            <a:pPr>
              <a:spcBef>
                <a:spcPts val="14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rPr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❌ Poor communication in rural areas.</a:t>
            </a:r>
          </a:p>
          <a:p>
            <a:pPr>
              <a:spcBef>
                <a:spcPts val="14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rPr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❌ Language barriers.</a:t>
            </a:r>
          </a:p>
          <a:p>
            <a:pPr>
              <a:spcBef>
                <a:spcPts val="1400"/>
              </a:spcBef>
              <a:defRPr sz="1400">
                <a:solidFill>
                  <a:srgbClr val="282828"/>
                </a:solidFill>
                <a:latin typeface="Arial"/>
              </a:defRPr>
            </a:pPr>
            <a:r>
              <a:rPr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❌ Limited access to internet and smartphones.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194560"/>
            <a:ext cx="5239512" cy="1828800"/>
          </a:xfrm>
          <a:prstGeom prst="rect">
            <a:avLst/>
          </a:prstGeom>
          <a:solidFill>
            <a:srgbClr val="F5E6E6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41414"/>
                </a:solidFill>
              </a:defRPr>
            </a:pPr>
            <a:r>
              <a:rPr sz="2400" dirty="0"/>
              <a:t>➡️ Result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rPr sz="2000" dirty="0"/>
              <a:t>Farmers fail to receive financial assistance, insurance benefits, subsidies, and modern farming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297680"/>
            <a:ext cx="5239512" cy="2011680"/>
          </a:xfrm>
          <a:prstGeom prst="rect">
            <a:avLst/>
          </a:prstGeom>
          <a:solidFill>
            <a:srgbClr val="DCEDE1"/>
          </a:solidFill>
          <a:ln>
            <a:solidFill>
              <a:srgbClr val="104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442A"/>
                </a:solidFill>
                <a:latin typeface="Arial"/>
              </a:defRPr>
            </a:pPr>
            <a:r>
              <a:rPr sz="2000" dirty="0"/>
              <a:t>📊 [Infographic Flow Diagram]</a:t>
            </a:r>
            <a:br>
              <a:rPr sz="2000" dirty="0"/>
            </a:br>
            <a:br>
              <a:rPr sz="2000" dirty="0"/>
            </a:br>
            <a:r>
              <a:rPr sz="2000" dirty="0"/>
              <a:t>Government ──🡢 [ Information Gap ] ──🡢 Disconnected Farmer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442A"/>
                </a:solidFill>
                <a:latin typeface="Georgia"/>
              </a:defRPr>
            </a:pPr>
            <a:r>
              <a:t>🎯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761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rPr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Our project aims to strategically address core structural gaps</a:t>
            </a:r>
            <a:r>
              <a:rPr dirty="0"/>
              <a:t>: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C58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828800"/>
            <a:ext cx="10177272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82828"/>
                </a:solidFill>
                <a:latin typeface="Arial"/>
              </a:defRPr>
            </a:pPr>
            <a:r>
              <a:t>Study the awareness level among farmers.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rgbClr val="C58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743200"/>
            <a:ext cx="10177272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82828"/>
                </a:solidFill>
                <a:latin typeface="Arial"/>
              </a:defRPr>
            </a:pPr>
            <a:r>
              <a:t>Identify reasons behind lack of awareness.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C58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3657600"/>
            <a:ext cx="10177272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82828"/>
                </a:solidFill>
                <a:latin typeface="Arial"/>
              </a:defRPr>
            </a:pPr>
            <a:r>
              <a:t>Analyze the impact on farmers' income.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572000"/>
            <a:ext cx="365760" cy="365760"/>
          </a:xfrm>
          <a:prstGeom prst="ellipse">
            <a:avLst/>
          </a:prstGeom>
          <a:solidFill>
            <a:srgbClr val="C58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4572000"/>
            <a:ext cx="10177272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82828"/>
                </a:solidFill>
                <a:latin typeface="Arial"/>
              </a:defRPr>
            </a:pPr>
            <a:r>
              <a:t>Suggest methods to improve information delivery.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486400"/>
            <a:ext cx="365760" cy="365760"/>
          </a:xfrm>
          <a:prstGeom prst="ellipse">
            <a:avLst/>
          </a:prstGeom>
          <a:solidFill>
            <a:srgbClr val="C58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5486400"/>
            <a:ext cx="10177272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282828"/>
                </a:solidFill>
                <a:latin typeface="Arial"/>
              </a:defRPr>
            </a:pPr>
            <a:r>
              <a:t>Promote effective use of government schemes.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2564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442A"/>
                </a:solidFill>
                <a:latin typeface="Georgia"/>
              </a:defRPr>
            </a:pPr>
            <a:r>
              <a:rPr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🌱 Need for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442A"/>
                </a:solidFill>
              </a:defRPr>
            </a:pPr>
            <a:r>
              <a:rPr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Why is this project important?</a:t>
            </a:r>
          </a:p>
          <a:p>
            <a:pPr>
              <a:spcBef>
                <a:spcPts val="1800"/>
              </a:spcBef>
              <a:defRPr sz="1400">
                <a:solidFill>
                  <a:srgbClr val="282828"/>
                </a:solidFill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✅ Many government schemes remain 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underutilized.</a:t>
            </a:r>
          </a:p>
          <a:p>
            <a:pPr>
              <a:spcBef>
                <a:spcPts val="1800"/>
              </a:spcBef>
              <a:defRPr sz="1400">
                <a:solidFill>
                  <a:srgbClr val="282828"/>
                </a:solidFill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✅ Farmers lose financial benefits.</a:t>
            </a:r>
          </a:p>
          <a:p>
            <a:pPr>
              <a:spcBef>
                <a:spcPts val="1800"/>
              </a:spcBef>
              <a:defRPr sz="1400">
                <a:solidFill>
                  <a:srgbClr val="282828"/>
                </a:solidFill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✅ Rural development slows down.</a:t>
            </a:r>
          </a:p>
          <a:p>
            <a:pPr>
              <a:spcBef>
                <a:spcPts val="1800"/>
              </a:spcBef>
              <a:defRPr sz="1400">
                <a:solidFill>
                  <a:srgbClr val="282828"/>
                </a:solidFill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✅ Low agricultural productivity.</a:t>
            </a:r>
          </a:p>
          <a:p>
            <a:pPr>
              <a:spcBef>
                <a:spcPts val="1800"/>
              </a:spcBef>
              <a:defRPr sz="1400">
                <a:solidFill>
                  <a:srgbClr val="282828"/>
                </a:solidFill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✅ Better awareness can improve farmers' livelihoods.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39512" cy="4846320"/>
          </a:xfrm>
          <a:prstGeom prst="rect">
            <a:avLst/>
          </a:prstGeom>
          <a:solidFill>
            <a:srgbClr val="104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C58E20"/>
                </a:solidFill>
              </a:defRPr>
            </a:pPr>
            <a:r>
              <a:rPr sz="2400" dirty="0">
                <a:solidFill>
                  <a:srgbClr val="FFC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Expected Strategic Benefits</a:t>
            </a:r>
          </a:p>
          <a:p>
            <a:pPr>
              <a:spcBef>
                <a:spcPts val="1400"/>
              </a:spcBef>
              <a:defRPr sz="1500" b="1">
                <a:solidFill>
                  <a:srgbClr val="C58E20"/>
                </a:solidFill>
              </a:defRPr>
            </a:pP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📈 </a:t>
            </a:r>
            <a:r>
              <a:rPr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Higher Income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rPr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Maximizes immediate financial support systems.</a:t>
            </a:r>
          </a:p>
          <a:p>
            <a:pPr>
              <a:spcBef>
                <a:spcPts val="1400"/>
              </a:spcBef>
              <a:defRPr sz="1500" b="1">
                <a:solidFill>
                  <a:srgbClr val="C58E20"/>
                </a:solidFill>
              </a:defRPr>
            </a:pPr>
            <a:r>
              <a:rPr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🌾 Better Crop Production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rPr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Ensures adoption of modern supported methods.</a:t>
            </a:r>
          </a:p>
          <a:p>
            <a:pPr>
              <a:spcBef>
                <a:spcPts val="1400"/>
              </a:spcBef>
              <a:defRPr sz="1500" b="1">
                <a:solidFill>
                  <a:srgbClr val="C58E20"/>
                </a:solidFill>
              </a:defRPr>
            </a:pP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💰 </a:t>
            </a:r>
            <a:r>
              <a:rPr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Financial Security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rPr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Provides institutional buffers against losses.</a:t>
            </a:r>
          </a:p>
          <a:p>
            <a:pPr>
              <a:spcBef>
                <a:spcPts val="1400"/>
              </a:spcBef>
              <a:defRPr sz="1500" b="1">
                <a:solidFill>
                  <a:srgbClr val="C58E20"/>
                </a:solidFill>
              </a:defRPr>
            </a:pP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👨‍🌾 </a:t>
            </a:r>
            <a:r>
              <a:rPr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Improved Quality of Life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rPr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Drives sustainable long-term economic parity.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8777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442A"/>
                </a:solidFill>
                <a:latin typeface="Georgia"/>
              </a:defRPr>
            </a:pPr>
            <a:r>
              <a:rPr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⚙ Methodology</a:t>
            </a:r>
          </a:p>
        </p:txBody>
      </p:sp>
      <p:sp>
        <p:nvSpPr>
          <p:cNvPr id="4" name="Chevron 3"/>
          <p:cNvSpPr/>
          <p:nvPr/>
        </p:nvSpPr>
        <p:spPr>
          <a:xfrm>
            <a:off x="731520" y="1645920"/>
            <a:ext cx="1600200" cy="1645920"/>
          </a:xfrm>
          <a:prstGeom prst="chevron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Step 1</a:t>
            </a:r>
            <a:br>
              <a:rPr sz="20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</a:b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Literature Review</a:t>
            </a:r>
          </a:p>
        </p:txBody>
      </p:sp>
      <p:sp>
        <p:nvSpPr>
          <p:cNvPr id="5" name="Chevron 4"/>
          <p:cNvSpPr/>
          <p:nvPr/>
        </p:nvSpPr>
        <p:spPr>
          <a:xfrm>
            <a:off x="2514600" y="1645920"/>
            <a:ext cx="1600200" cy="1645920"/>
          </a:xfrm>
          <a:prstGeom prst="chevron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solidFill>
                  <a:srgbClr val="00B050"/>
                </a:solidFill>
                <a:latin typeface="Algerian" panose="04020705040A02060702" pitchFamily="82" charset="0"/>
                <a:ea typeface="Cambria Math" panose="02040503050406030204" pitchFamily="18" charset="0"/>
              </a:rPr>
              <a:t>Step 2</a:t>
            </a:r>
            <a:br>
              <a:rPr sz="2000" dirty="0">
                <a:solidFill>
                  <a:srgbClr val="00B050"/>
                </a:solidFill>
                <a:latin typeface="Algerian" panose="04020705040A02060702" pitchFamily="82" charset="0"/>
                <a:ea typeface="Cambria Math" panose="02040503050406030204" pitchFamily="18" charset="0"/>
              </a:rPr>
            </a:br>
            <a:r>
              <a:rPr sz="2000" dirty="0">
                <a:solidFill>
                  <a:srgbClr val="00B050"/>
                </a:solidFill>
                <a:latin typeface="Algerian" panose="04020705040A02060702" pitchFamily="82" charset="0"/>
                <a:ea typeface="Cambria Math" panose="02040503050406030204" pitchFamily="18" charset="0"/>
              </a:rPr>
              <a:t>Identify Schemes</a:t>
            </a:r>
          </a:p>
        </p:txBody>
      </p:sp>
      <p:sp>
        <p:nvSpPr>
          <p:cNvPr id="6" name="Chevron 5"/>
          <p:cNvSpPr/>
          <p:nvPr/>
        </p:nvSpPr>
        <p:spPr>
          <a:xfrm>
            <a:off x="4297680" y="1645920"/>
            <a:ext cx="1600200" cy="1645920"/>
          </a:xfrm>
          <a:prstGeom prst="chevron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Step 3</a:t>
            </a:r>
            <a:br>
              <a:rPr sz="20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</a:b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Survey Farmers</a:t>
            </a:r>
          </a:p>
        </p:txBody>
      </p:sp>
      <p:sp>
        <p:nvSpPr>
          <p:cNvPr id="7" name="Chevron 6"/>
          <p:cNvSpPr/>
          <p:nvPr/>
        </p:nvSpPr>
        <p:spPr>
          <a:xfrm>
            <a:off x="6080760" y="1645920"/>
            <a:ext cx="1600200" cy="1645920"/>
          </a:xfrm>
          <a:prstGeom prst="chevron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solidFill>
                  <a:srgbClr val="00B050"/>
                </a:solidFill>
                <a:latin typeface="Algerian" panose="04020705040A02060702" pitchFamily="82" charset="0"/>
              </a:rPr>
              <a:t>Step 4</a:t>
            </a:r>
            <a:br>
              <a:rPr sz="2000" dirty="0">
                <a:solidFill>
                  <a:srgbClr val="00B050"/>
                </a:solidFill>
                <a:latin typeface="Algerian" panose="04020705040A02060702" pitchFamily="82" charset="0"/>
              </a:rPr>
            </a:br>
            <a:r>
              <a:rPr sz="2000" dirty="0">
                <a:solidFill>
                  <a:srgbClr val="00B050"/>
                </a:solidFill>
                <a:latin typeface="Algerian" panose="04020705040A02060702" pitchFamily="82" charset="0"/>
              </a:rPr>
              <a:t>Analyze Data</a:t>
            </a:r>
          </a:p>
        </p:txBody>
      </p:sp>
      <p:sp>
        <p:nvSpPr>
          <p:cNvPr id="8" name="Chevron 7"/>
          <p:cNvSpPr/>
          <p:nvPr/>
        </p:nvSpPr>
        <p:spPr>
          <a:xfrm>
            <a:off x="7863840" y="1645920"/>
            <a:ext cx="1600200" cy="1645920"/>
          </a:xfrm>
          <a:prstGeom prst="chevron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Step 5</a:t>
            </a:r>
            <a:br>
              <a:rPr sz="20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</a:b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Find Problems</a:t>
            </a:r>
          </a:p>
        </p:txBody>
      </p:sp>
      <p:sp>
        <p:nvSpPr>
          <p:cNvPr id="9" name="Chevron 8"/>
          <p:cNvSpPr/>
          <p:nvPr/>
        </p:nvSpPr>
        <p:spPr>
          <a:xfrm>
            <a:off x="9646920" y="1645920"/>
            <a:ext cx="1600200" cy="1645920"/>
          </a:xfrm>
          <a:prstGeom prst="chevron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sz="2000" dirty="0">
                <a:solidFill>
                  <a:srgbClr val="00B050"/>
                </a:solidFill>
                <a:latin typeface="Algerian" panose="04020705040A02060702" pitchFamily="82" charset="0"/>
              </a:rPr>
              <a:t>Step 6</a:t>
            </a:r>
            <a:br>
              <a:rPr sz="2000" dirty="0">
                <a:solidFill>
                  <a:srgbClr val="00B050"/>
                </a:solidFill>
                <a:latin typeface="Algerian" panose="04020705040A02060702" pitchFamily="82" charset="0"/>
              </a:rPr>
            </a:br>
            <a:r>
              <a:rPr sz="2000" dirty="0">
                <a:solidFill>
                  <a:srgbClr val="00B050"/>
                </a:solidFill>
                <a:latin typeface="Algerian" panose="04020705040A02060702" pitchFamily="82" charset="0"/>
              </a:rPr>
              <a:t>Suggest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50385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442A"/>
                </a:solidFill>
              </a:defRPr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Execution Tools &amp; Resources Utilized</a:t>
            </a:r>
            <a:r>
              <a:rPr sz="2400" dirty="0"/>
              <a:t>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  <a:latin typeface="Arial"/>
              </a:defRPr>
            </a:pPr>
            <a:r>
              <a:rPr dirty="0"/>
              <a:t>🛠️</a:t>
            </a:r>
            <a:br>
              <a:rPr dirty="0"/>
            </a:br>
            <a:r>
              <a:rPr sz="1600" dirty="0"/>
              <a:t>Google 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3864" y="457200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  <a:latin typeface="Arial"/>
              </a:defRPr>
            </a:pPr>
            <a:r>
              <a:rPr dirty="0"/>
              <a:t>🛠️</a:t>
            </a:r>
            <a:br>
              <a:rPr dirty="0"/>
            </a:br>
            <a:r>
              <a:rPr sz="1600" dirty="0"/>
              <a:t>Interviews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457200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  <a:latin typeface="Arial"/>
              </a:defRPr>
            </a:pPr>
            <a:r>
              <a:rPr dirty="0"/>
              <a:t>🛠️</a:t>
            </a:r>
            <a:br>
              <a:rPr dirty="0"/>
            </a:br>
            <a:r>
              <a:rPr sz="1600" dirty="0"/>
              <a:t>Government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457200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  <a:latin typeface="Arial"/>
              </a:defRPr>
            </a:pPr>
            <a:r>
              <a:rPr dirty="0"/>
              <a:t>🛠️</a:t>
            </a:r>
            <a:br>
              <a:rPr dirty="0"/>
            </a:br>
            <a:r>
              <a:rPr sz="1600" dirty="0"/>
              <a:t>Internet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2090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442A"/>
                </a:solidFill>
                <a:latin typeface="Georgia"/>
              </a:defRPr>
            </a:pPr>
            <a:r>
              <a:rPr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📈 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DC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442A"/>
                </a:solidFill>
              </a:defRPr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Post-Project Delivery Benchmarks:</a:t>
            </a:r>
          </a:p>
          <a:p>
            <a:pPr>
              <a:spcBef>
                <a:spcPts val="1800"/>
              </a:spcBef>
              <a:defRPr sz="1400">
                <a:solidFill>
                  <a:srgbClr val="282828"/>
                </a:solidFill>
              </a:defRPr>
            </a:pPr>
            <a:r>
              <a:rPr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✅ Better understanding of farmers' awareness.</a:t>
            </a:r>
          </a:p>
          <a:p>
            <a:pPr>
              <a:spcBef>
                <a:spcPts val="1800"/>
              </a:spcBef>
              <a:defRPr sz="1400">
                <a:solidFill>
                  <a:srgbClr val="282828"/>
                </a:solidFill>
              </a:defRPr>
            </a:pPr>
            <a:r>
              <a:rPr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✅ Identification of major communication barriers.</a:t>
            </a:r>
          </a:p>
          <a:p>
            <a:pPr>
              <a:spcBef>
                <a:spcPts val="1800"/>
              </a:spcBef>
              <a:defRPr sz="1400">
                <a:solidFill>
                  <a:srgbClr val="282828"/>
                </a:solidFill>
              </a:defRPr>
            </a:pPr>
            <a:r>
              <a:rPr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✅ Practical recommendations for increasing awareness.</a:t>
            </a:r>
          </a:p>
          <a:p>
            <a:pPr>
              <a:spcBef>
                <a:spcPts val="1800"/>
              </a:spcBef>
              <a:defRPr sz="1400">
                <a:solidFill>
                  <a:srgbClr val="282828"/>
                </a:solidFill>
              </a:defRPr>
            </a:pPr>
            <a:r>
              <a:rPr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✅ Increased utilization of government schemes.</a:t>
            </a:r>
          </a:p>
          <a:p>
            <a:pPr>
              <a:spcBef>
                <a:spcPts val="1800"/>
              </a:spcBef>
              <a:defRPr sz="1400">
                <a:solidFill>
                  <a:srgbClr val="282828"/>
                </a:solidFill>
              </a:defRPr>
            </a:pPr>
            <a:r>
              <a:rPr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✅ Improved financial and social welfare of farmers.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371600"/>
            <a:ext cx="29685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442A"/>
                </a:solidFill>
              </a:defRPr>
            </a:pPr>
            <a:r>
              <a:rPr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Macro Long-Term Impact: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011680"/>
            <a:ext cx="4754880" cy="1097280"/>
          </a:xfrm>
          <a:prstGeom prst="roundRect">
            <a:avLst/>
          </a:prstGeom>
          <a:solidFill>
            <a:srgbClr val="DC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0442A"/>
                </a:solidFill>
                <a:latin typeface="Arial"/>
              </a:defRPr>
            </a:pPr>
            <a:r>
              <a:rPr dirty="0"/>
              <a:t>🌾 Empowered Farmers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383280"/>
            <a:ext cx="4754880" cy="1097280"/>
          </a:xfrm>
          <a:prstGeom prst="roundRect">
            <a:avLst/>
          </a:prstGeom>
          <a:solidFill>
            <a:srgbClr val="C58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📈 Increased Ag 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754880"/>
            <a:ext cx="4754880" cy="1097280"/>
          </a:xfrm>
          <a:prstGeom prst="roundRect">
            <a:avLst/>
          </a:prstGeom>
          <a:solidFill>
            <a:srgbClr val="104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rPr lang="en-IN" dirty="0"/>
              <a:t>In</a:t>
            </a:r>
            <a:r>
              <a:rPr dirty="0"/>
              <a:t> Rural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4C34"/>
                </a:solidFill>
                <a:latin typeface="Georgia"/>
              </a:defRPr>
            </a:pPr>
            <a:r>
              <a:t>Project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17320"/>
          <a:ext cx="10614405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4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79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124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 1–3</a:t>
                      </a:r>
                    </a:p>
                  </a:txBody>
                  <a:tcPr anchor="ctr">
                    <a:solidFill>
                      <a:srgbClr val="124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 4–6</a:t>
                      </a:r>
                    </a:p>
                  </a:txBody>
                  <a:tcPr anchor="ctr">
                    <a:solidFill>
                      <a:srgbClr val="124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 7–11</a:t>
                      </a:r>
                    </a:p>
                  </a:txBody>
                  <a:tcPr anchor="ctr">
                    <a:solidFill>
                      <a:srgbClr val="124C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Week 12–16</a:t>
                      </a:r>
                    </a:p>
                  </a:txBody>
                  <a:tcPr anchor="ctr">
                    <a:solidFill>
                      <a:srgbClr val="124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400" b="0">
                          <a:solidFill>
                            <a:srgbClr val="124C34"/>
                          </a:solidFill>
                          <a:latin typeface="Arial"/>
                        </a:defRPr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Research</a:t>
                      </a:r>
                      <a:r>
                        <a:rPr lang="en-IN" sz="1400" b="0" kern="1200" dirty="0">
                          <a:solidFill>
                            <a:srgbClr val="124C34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&amp; Topic Finalization</a:t>
                      </a:r>
                      <a:endParaRPr sz="1400" b="0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24C3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Background Study &amp; </a:t>
                      </a:r>
                      <a:r>
                        <a:rPr sz="1600" b="0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Scheme</a:t>
                      </a:r>
                      <a:r>
                        <a:rPr dirty="0">
                          <a:solidFill>
                            <a:schemeClr val="tx1"/>
                          </a:solidFill>
                        </a:rPr>
                        <a:t> Analysis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24C3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Field Survey &amp; Data Collection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24C34"/>
                          </a:solidFill>
                          <a:latin typeface="Arial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Data Analysis &amp; Final Report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0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D29719"/>
                          </a:solidFill>
                          <a:latin typeface="Arial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88104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58E20"/>
                </a:solidFill>
                <a:latin typeface="Georgia"/>
              </a:defRPr>
            </a:pPr>
            <a:r>
              <a:rPr dirty="0"/>
              <a:t>📚 </a:t>
            </a:r>
            <a:r>
              <a:rPr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983083" cy="37548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• Ministry of Agriculture &amp; Farmers Welfare (Govt. of India)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• PM-KISAN Official Portal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• NABARD Annual Valuation Reports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• Agricultural Census Reports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• Research Papers on Grassroot Farmer Awareness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• Government Information Delivery Publications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• Academic Journals on Rural Socio-Economic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2EC51-8BAB-E61E-B010-AEBED3A4E0A8}"/>
              </a:ext>
            </a:extLst>
          </p:cNvPr>
          <p:cNvSpPr/>
          <p:nvPr/>
        </p:nvSpPr>
        <p:spPr>
          <a:xfrm>
            <a:off x="3909007" y="5402368"/>
            <a:ext cx="42166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6">
                    <a:lumMod val="75000"/>
                  </a:schemeClr>
                </a:solidFill>
              </a:rPr>
              <a:t>THANK YOU..!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526</Words>
  <Application>Microsoft Office PowerPoint</Application>
  <PresentationFormat>Widescreen</PresentationFormat>
  <Paragraphs>109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Sharayu Savale</dc:creator>
  <dc:description>generated using python-pptx</dc:description>
  <cp:lastModifiedBy>Pratiksha Khondre</cp:lastModifiedBy>
  <cp:revision>12</cp:revision>
  <dcterms:created xsi:type="dcterms:W3CDTF">2013-01-27T09:14:16Z</dcterms:created>
  <dcterms:modified xsi:type="dcterms:W3CDTF">2026-08-05T13:43:01Z</dcterms:modified>
</cp:coreProperties>
</file>